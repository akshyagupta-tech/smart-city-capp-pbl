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INTEGRATED SMART CITY COMPUTING FRAMEWORK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Topic 84 • SDG 11: Sustainable Cities and Communities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Course: Computer Architecture &amp; Parallel Processing (CCSE 0304) | Section: CSE-TWIN</a:t>
            </a:r>
          </a:p>
          <a:p>
            <a:pPr>
              <a:spcAft>
                <a:spcPts val="2400"/>
              </a:spcAft>
              <a:defRPr sz="1300">
                <a:solidFill>
                  <a:srgbClr val="FFFFFF"/>
                </a:solidFill>
              </a:defRPr>
            </a:pPr>
            <a:r>
              <a:t>Faculty Evaluator: Dr. AMRITA BHATNAGAR | Team / Group 02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Team Members: Akshya Gupta (Lead) | Anshika Verma | Kajal Tiwari | Priyanshu 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Problem Context &amp; Municipal Hardware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Emergency Bus Starvation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Challenge: Standard edge buses lack deterministic preemption.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Critical ambulances and fire alarms get stuck behind bulk water/trash telemetry.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Architectural Fix: Dual-Tier Preemptive Bus Arbiter with dedicated priority interrupt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Pipeline Stalls in Sensor Loops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Challenge: High-frequency telemetry polling produces repetitive Read-After-Write (RAW) hazards.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Unforwarded pipelines waste 2 stall cycles per dependent instruction.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Architectural Fix: 5-Stage RISC core with EX-to-EX operand forwarding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Multi-Zone Memory Incoherence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Challenge: Broadcast snooping saturates shared interconnects beyond 4-8 cores.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Municipal zones risk reading stale, unsynchronized traffic registers.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Architectural Fix: Directory-based MESI coherence protocol with point-to-point invalidation.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Module 1 &amp; 2: Arbitration &amp; Hardware Arithmetic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Module 1: Preemptive Bus Arbiter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Dual-Tier Architecture: Emergency Priority Channel + Routine Round-Robin FIFO.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Zero Routine Delay: Latched emergency lines preempt active telemetry transfers instantly.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Verified Result: Serviced 2/2 critical emergency alerts (Cycle 1 &amp; Cycle 2) ahead of 10 routine municipal sensor packets under stress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Module 2: Radix-4 Booth's Multiplier ALU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Algorithmic Speedup: Recodes multiplier bits into triplets {-2, -1, 0, +1, +2}.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Cycle Reduction: Reduces multiplication from n cycles (8) to n/2 cycles (4).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GIS Acceleration: Speeds up signed velocity and coordinate matrix computations for spatial transit tracking.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Verified Result: Calculated 14 * (-5) = -70 in exactly 4 cycles with 100%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Module 3: 5-Stage RISC Pipeline &amp; Hazard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Pipelined Datapath Specifications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5 Standard Stages: IF (Fetch), ID (Decode), EX (Execute), MEM (Memory), WB (Write-Back).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Hazard Forwarding: Bypasses ALU results directly from EX/MEM and MEM/WB registers back to ALU multiplexers.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RAW Hazard Proof: Resolves 'LOAD R1, [Sensor]' -&gt; 'ADD R2, R1, R3' dependency without stall bubbles.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Branch Prediction: 2-bit saturating counter prevents pipeline flushes on recurring sensor polling routines.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Measured Metric: Average CPI reduced to ~1.06.</a:t>
            </a:r>
          </a:p>
        </p:txBody>
      </p:sp>
      <p:pic>
        <p:nvPicPr>
          <p:cNvPr id="6" name="Picture 5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68880"/>
            <a:ext cx="5852160" cy="1555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Module 4: Directory-Based MESI Cache Coherence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Coherence Protocol Mechanics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Memory Hierarchy: Split L1 Caches (32 KB I-Cache / 32 KB D-Cache, 4-Way) to eliminate structural hazards.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Coherence States: Modified (M), Exclusive (E), Shared (S), Invalid (I).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Point-to-Point Invalidation: The directory bitmask tracks sharers, eliminating bus-snooping broadcast storms.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Trace Validation: Node 0 &amp; 1 shared Tag 0x3F2A; Node 2 write issued exactly 2 directed invalidations.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Measured Metric: 60.0% Multi-Core Cache Hit Rate verified across mixed telemetry workloads.</a:t>
            </a:r>
          </a:p>
        </p:txBody>
      </p:sp>
      <p:pic>
        <p:nvPicPr>
          <p:cNvPr id="6" name="Picture 5" descr="mes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029200" cy="38328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Module 5: Scalable NUMA Architecture &amp; 2D-Mesh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Scalability &amp; Synchronization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Geo-Zoned NUMA: Maps physical city sectors (North, Central, East, West) to local compute clusters.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Hardware Locks: Implemented atomic Test-and-Set primitives for conflict-free updates to shared arterial traffic queues.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Deadlock-Free Routing: Dimension-order X-Y minimal path routing eliminates cyclic router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Measured Latency: Route from Node(0,0) to Node(2,2) executed in exactly 4 router hops with minimal transmission penalty.</a:t>
            </a:r>
          </a:p>
        </p:txBody>
      </p:sp>
      <p:pic>
        <p:nvPicPr>
          <p:cNvPr id="6" name="Picture 5" descr="me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4269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Phase 2 Empirical Results &amp; Architectural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3464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E5FF"/>
                          </a:solidFill>
                        </a:defRPr>
                      </a:pPr>
                      <a:r>
                        <a:t>Architectural Unit</a:t>
                      </a:r>
                    </a:p>
                  </a:txBody>
                  <a:tcPr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E5FF"/>
                          </a:solidFill>
                        </a:defRPr>
                      </a:pPr>
                      <a:r>
                        <a:t>Baseline Architecture</a:t>
                      </a:r>
                    </a:p>
                  </a:txBody>
                  <a:tcPr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E5FF"/>
                          </a:solidFill>
                        </a:defRPr>
                      </a:pPr>
                      <a:r>
                        <a:t>Our Proposed Framework</a:t>
                      </a:r>
                    </a:p>
                  </a:txBody>
                  <a:tcPr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E5FF"/>
                          </a:solidFill>
                        </a:defRPr>
                      </a:pPr>
                      <a:r>
                        <a:t>Empirical Gain / Metric</a:t>
                      </a:r>
                    </a:p>
                  </a:txBody>
                  <a:tcPr>
                    <a:solidFill>
                      <a:srgbClr val="1322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Bus Arbiter (M1)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Static round-robin (high latency)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Dual-Tier Preemptive Priority Channel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0-Cycle emergency delay; 100% preemption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Arithmetic ALU (M2)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shift-and-add (8 cycles)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Radix-4 Booth Multiplier Recoding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 Cycles (50% arithmetic cycle reduction)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RISC Pipeline (M3)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Unforwarded pipeline (2 stall bubbles)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EX-to-EX Hardware Operand Forwarding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 Stall bubbles on RAW hazard; CPI ~1.06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Cache Coherence (M4)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Snooping bus (broadcast saturation)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Directory-based 4-State MESI Protocol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60.0% Cache Hit Rate; 2 targeted invalidations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Interconnect (M5)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Central shared memory bus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Dimension-Order X-Y 2D-Mesh Interconnect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Deterministic minimal latency; deadlock-free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CCSE 0304 • REVIEW 2 (DEVELOPMENT &amp; APPLICATION)</a:t>
            </a:r>
          </a:p>
          <a:p>
            <a:pPr>
              <a:defRPr sz="2200" b="1">
                <a:solidFill>
                  <a:srgbClr val="00E5FF"/>
                </a:solidFill>
              </a:defRPr>
            </a:pPr>
            <a:r>
              <a:t>Review 2 Summary &amp; Roadmap to Final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Current Progress Summary (75% Complete)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Modules 1 through 4 are fully designed, simulated in Python, and empirically verified.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Hardware prototype validated with an interactive visual dashboard (Tkinter) and dual-view Streamlit engine.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Zero data-hazard stalls and verified directory invalidation traces confirm real-world smart city applicability.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All rubrics for Review 2 (Modules 3 &amp; 4) achieved with quantitative test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Roadmap for Final Review (Review 3)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Scale NUMA multi-node 2D-Mesh array from 4 nodes to 16 nodes.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Evaluate virtual channel buffers for traffic congestion mitigation under heavy packet injection rates.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Draft the comprehensive 20-25 page final PBL project report.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Conduct final team rehearsal for live viva defense and faculty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